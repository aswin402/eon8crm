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845936-E073-4B9F-A1FD-96E949F0EF5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69D6F-7266-42CD-AB5E-CA4E1940F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32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69D6F-7266-42CD-AB5E-CA4E1940F5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31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2296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5F7FA"/>
                </a:solidFill>
              </a:rPr>
              <a:t>EON8 CRM</a:t>
            </a:r>
          </a:p>
          <a:p>
            <a:pPr algn="ctr"/>
            <a:r>
              <a:rPr sz="2200">
                <a:solidFill>
                  <a:srgbClr val="32ADE6"/>
                </a:solidFill>
              </a:rPr>
              <a:t>Complete Product Blueprint &amp; Business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AAB4BE"/>
                </a:solidFill>
              </a:rPr>
              <a:t>A scalable internal CRM for Sales, Clients, Projects, Finance, Team &amp; Analytics</a:t>
            </a:r>
          </a:p>
        </p:txBody>
      </p:sp>
      <p:pic>
        <p:nvPicPr>
          <p:cNvPr id="4" name="Picture 3" descr="a_dark_ui_infographic_flowchart_diagram_on_a_b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75916"/>
            <a:ext cx="10332720" cy="42260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E"/>
                </a:solidFill>
              </a:rPr>
              <a:t>EON8 CRM – Product Blueprint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Vision for Our Own CRM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AB4BE"/>
                </a:solidFill>
              </a:rPr>
              <a:t>One unified platform instead of disconnected business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43891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Business Problems</a:t>
            </a:r>
          </a:p>
          <a:p>
            <a:r>
              <a:rPr sz="900">
                <a:solidFill>
                  <a:srgbClr val="AAB4BE"/>
                </a:solidFill>
              </a:rPr>
              <a:t>Multiple tools</a:t>
            </a:r>
          </a:p>
          <a:p>
            <a:r>
              <a:rPr sz="900">
                <a:solidFill>
                  <a:srgbClr val="AAB4BE"/>
                </a:solidFill>
              </a:rPr>
              <a:t>Manual follow-ups</a:t>
            </a:r>
          </a:p>
          <a:p>
            <a:r>
              <a:rPr sz="900">
                <a:solidFill>
                  <a:srgbClr val="AAB4BE"/>
                </a:solidFill>
              </a:rPr>
              <a:t>Scattered client data</a:t>
            </a:r>
          </a:p>
          <a:p>
            <a:r>
              <a:rPr sz="900">
                <a:solidFill>
                  <a:srgbClr val="AAB4BE"/>
                </a:solidFill>
              </a:rPr>
              <a:t>Invoices separate from projects</a:t>
            </a:r>
          </a:p>
          <a:p>
            <a:r>
              <a:rPr sz="900">
                <a:solidFill>
                  <a:srgbClr val="AAB4BE"/>
                </a:solidFill>
              </a:rPr>
              <a:t>Limited productivity visibility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474720" cy="43891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CRM Goal</a:t>
            </a:r>
          </a:p>
          <a:p>
            <a:r>
              <a:rPr sz="900">
                <a:solidFill>
                  <a:srgbClr val="AAB4BE"/>
                </a:solidFill>
              </a:rPr>
              <a:t>Single source of truth</a:t>
            </a:r>
          </a:p>
          <a:p>
            <a:r>
              <a:rPr sz="900">
                <a:solidFill>
                  <a:srgbClr val="AAB4BE"/>
                </a:solidFill>
              </a:rPr>
              <a:t>Integrated workflows</a:t>
            </a:r>
          </a:p>
          <a:p>
            <a:r>
              <a:rPr sz="900">
                <a:solidFill>
                  <a:srgbClr val="AAB4BE"/>
                </a:solidFill>
              </a:rPr>
              <a:t>Real-time dashboard</a:t>
            </a:r>
          </a:p>
          <a:p>
            <a:r>
              <a:rPr sz="900">
                <a:solidFill>
                  <a:srgbClr val="AAB4BE"/>
                </a:solidFill>
              </a:rPr>
              <a:t>Automation ready</a:t>
            </a:r>
          </a:p>
          <a:p>
            <a:r>
              <a:rPr sz="900">
                <a:solidFill>
                  <a:srgbClr val="AAB4BE"/>
                </a:solidFill>
              </a:rPr>
              <a:t>Role-based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25880"/>
            <a:ext cx="3474720" cy="43891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Expected Outcome</a:t>
            </a:r>
          </a:p>
          <a:p>
            <a:r>
              <a:rPr sz="900">
                <a:solidFill>
                  <a:srgbClr val="AAB4BE"/>
                </a:solidFill>
              </a:rPr>
              <a:t>Better client experience</a:t>
            </a:r>
          </a:p>
          <a:p>
            <a:r>
              <a:rPr sz="900">
                <a:solidFill>
                  <a:srgbClr val="AAB4BE"/>
                </a:solidFill>
              </a:rPr>
              <a:t>Operational efficiency</a:t>
            </a:r>
          </a:p>
          <a:p>
            <a:r>
              <a:rPr sz="900">
                <a:solidFill>
                  <a:srgbClr val="AAB4BE"/>
                </a:solidFill>
              </a:rPr>
              <a:t>Revenue visibility</a:t>
            </a:r>
          </a:p>
          <a:p>
            <a:r>
              <a:rPr sz="900">
                <a:solidFill>
                  <a:srgbClr val="AAB4BE"/>
                </a:solidFill>
              </a:rPr>
              <a:t>Team accountability</a:t>
            </a:r>
          </a:p>
          <a:p>
            <a:r>
              <a:rPr sz="900">
                <a:solidFill>
                  <a:srgbClr val="AAB4BE"/>
                </a:solidFill>
              </a:rPr>
              <a:t>Scalable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E"/>
                </a:solidFill>
              </a:rPr>
              <a:t>EON8 CRM – Product Blueprint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CRM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AB4BE"/>
                </a:solidFill>
              </a:rPr>
              <a:t>Complete business management ecosystem</a:t>
            </a:r>
          </a:p>
        </p:txBody>
      </p:sp>
      <p:pic>
        <p:nvPicPr>
          <p:cNvPr id="4" name="Picture 3" descr="a_dark_ui_infographic_flowchart_diagram_on_a_b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1133856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E"/>
                </a:solidFill>
              </a:rPr>
              <a:t>EON8 CRM – Product Blueprint  | 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Primary Business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AB4BE"/>
                </a:solidFill>
              </a:rPr>
              <a:t>The central workflow that connects sales to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828800"/>
            <a:ext cx="1234440" cy="10058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AF5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Lead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54480" y="233172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801368" y="1828800"/>
            <a:ext cx="1234440" cy="10058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Qualified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35808" y="233172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82696" y="1828800"/>
            <a:ext cx="1234440" cy="10058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Client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17136" y="233172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64024" y="1828800"/>
            <a:ext cx="1234440" cy="10058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Project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98464" y="233172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45352" y="1828800"/>
            <a:ext cx="1234440" cy="10058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Tasks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79792" y="233172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26680" y="1828800"/>
            <a:ext cx="1234440" cy="10058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Time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61120" y="233172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208008" y="1828800"/>
            <a:ext cx="1234440" cy="10058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Invoice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442448" y="233172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689336" y="1828800"/>
            <a:ext cx="1234440" cy="10058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Payment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3886200"/>
            <a:ext cx="10058400" cy="11430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Business Rule</a:t>
            </a:r>
          </a:p>
          <a:p>
            <a:r>
              <a:rPr sz="900">
                <a:solidFill>
                  <a:srgbClr val="AAB4BE"/>
                </a:solidFill>
              </a:rPr>
              <a:t>Lead → Client → Project → Tasks → Time → Invoice → Payment. Every operational activity should connect back to the client profile and reporting engine.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E"/>
                </a:solidFill>
              </a:rPr>
              <a:t>EON8 CRM – Product Blueprint  | 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Sidebar Information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AB4BE"/>
                </a:solidFill>
              </a:rPr>
              <a:t>Recommended navigation for employees and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2743200" cy="45720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CORE</a:t>
            </a:r>
          </a:p>
          <a:p>
            <a:r>
              <a:rPr sz="900">
                <a:solidFill>
                  <a:srgbClr val="AAB4BE"/>
                </a:solidFill>
              </a:rPr>
              <a:t>• Dashboard</a:t>
            </a:r>
          </a:p>
          <a:p>
            <a:r>
              <a:rPr sz="900">
                <a:solidFill>
                  <a:srgbClr val="AAB4BE"/>
                </a:solidFill>
              </a:rPr>
              <a:t>• Leads</a:t>
            </a:r>
          </a:p>
          <a:p>
            <a:r>
              <a:rPr sz="900">
                <a:solidFill>
                  <a:srgbClr val="AAB4BE"/>
                </a:solidFill>
              </a:rPr>
              <a:t>• Clients</a:t>
            </a:r>
          </a:p>
          <a:p>
            <a:r>
              <a:rPr sz="900">
                <a:solidFill>
                  <a:srgbClr val="AAB4BE"/>
                </a:solidFill>
              </a:rPr>
              <a:t>• Projects</a:t>
            </a:r>
          </a:p>
          <a:p>
            <a:r>
              <a:rPr sz="900">
                <a:solidFill>
                  <a:srgbClr val="AAB4BE"/>
                </a:solidFill>
              </a:rPr>
              <a:t>• Services</a:t>
            </a:r>
          </a:p>
          <a:p>
            <a:r>
              <a:rPr sz="900">
                <a:solidFill>
                  <a:srgbClr val="AAB4BE"/>
                </a:solidFill>
              </a:rPr>
              <a:t>• Tasks</a:t>
            </a:r>
          </a:p>
          <a:p>
            <a:r>
              <a:rPr sz="900">
                <a:solidFill>
                  <a:srgbClr val="AAB4BE"/>
                </a:solidFill>
              </a:rPr>
              <a:t>• Time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234440"/>
            <a:ext cx="2743200" cy="45720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FINANCE</a:t>
            </a:r>
          </a:p>
          <a:p>
            <a:r>
              <a:rPr sz="900">
                <a:solidFill>
                  <a:srgbClr val="AAB4BE"/>
                </a:solidFill>
              </a:rPr>
              <a:t>• Invoices</a:t>
            </a:r>
          </a:p>
          <a:p>
            <a:r>
              <a:rPr sz="900">
                <a:solidFill>
                  <a:srgbClr val="AAB4BE"/>
                </a:solidFill>
              </a:rPr>
              <a:t>• Payments</a:t>
            </a:r>
          </a:p>
          <a:p>
            <a:r>
              <a:rPr sz="900">
                <a:solidFill>
                  <a:srgbClr val="AAB4BE"/>
                </a:solidFill>
              </a:rPr>
              <a:t>• Expenses</a:t>
            </a:r>
          </a:p>
          <a:p>
            <a:r>
              <a:rPr sz="900">
                <a:solidFill>
                  <a:srgbClr val="AAB4BE"/>
                </a:solidFill>
              </a:rPr>
              <a:t>• Recurring Billing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34440"/>
            <a:ext cx="2743200" cy="45720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OPERATIONS</a:t>
            </a:r>
          </a:p>
          <a:p>
            <a:r>
              <a:rPr sz="900">
                <a:solidFill>
                  <a:srgbClr val="AAB4BE"/>
                </a:solidFill>
              </a:rPr>
              <a:t>• Support Tickets</a:t>
            </a:r>
          </a:p>
          <a:p>
            <a:r>
              <a:rPr sz="900">
                <a:solidFill>
                  <a:srgbClr val="AAB4BE"/>
                </a:solidFill>
              </a:rPr>
              <a:t>• Documents</a:t>
            </a:r>
          </a:p>
          <a:p>
            <a:r>
              <a:rPr sz="900">
                <a:solidFill>
                  <a:srgbClr val="AAB4BE"/>
                </a:solidFill>
              </a:rPr>
              <a:t>• Communication</a:t>
            </a:r>
          </a:p>
          <a:p>
            <a:r>
              <a:rPr sz="900">
                <a:solidFill>
                  <a:srgbClr val="AAB4BE"/>
                </a:solidFill>
              </a:rPr>
              <a:t>• Calendar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234440"/>
            <a:ext cx="2743200" cy="45720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AF5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MANAGEMENT</a:t>
            </a:r>
          </a:p>
          <a:p>
            <a:r>
              <a:rPr sz="900">
                <a:solidFill>
                  <a:srgbClr val="AAB4BE"/>
                </a:solidFill>
              </a:rPr>
              <a:t>• Analytics &amp; Reports</a:t>
            </a:r>
          </a:p>
          <a:p>
            <a:r>
              <a:rPr sz="900">
                <a:solidFill>
                  <a:srgbClr val="AAB4BE"/>
                </a:solidFill>
              </a:rPr>
              <a:t>• HR Management</a:t>
            </a:r>
          </a:p>
          <a:p>
            <a:r>
              <a:rPr sz="900">
                <a:solidFill>
                  <a:srgbClr val="AAB4BE"/>
                </a:solidFill>
              </a:rPr>
              <a:t>• Team Management</a:t>
            </a:r>
          </a:p>
          <a:p>
            <a:r>
              <a:rPr sz="900">
                <a:solidFill>
                  <a:srgbClr val="AAB4BE"/>
                </a:solidFill>
              </a:rPr>
              <a:t>• 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E"/>
                </a:solidFill>
              </a:rPr>
              <a:t>EON8 CRM – Product Blueprint  | 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Lead Management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AB4BE"/>
                </a:solidFill>
              </a:rPr>
              <a:t>Capture every opportunity before it becomes a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2834640" cy="46634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AF5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Lead Information</a:t>
            </a:r>
          </a:p>
          <a:p>
            <a:r>
              <a:rPr sz="900">
                <a:solidFill>
                  <a:srgbClr val="AAB4BE"/>
                </a:solidFill>
              </a:rPr>
              <a:t>Lead ID</a:t>
            </a:r>
          </a:p>
          <a:p>
            <a:r>
              <a:rPr sz="900">
                <a:solidFill>
                  <a:srgbClr val="AAB4BE"/>
                </a:solidFill>
              </a:rPr>
              <a:t>Company</a:t>
            </a:r>
          </a:p>
          <a:p>
            <a:r>
              <a:rPr sz="900">
                <a:solidFill>
                  <a:srgbClr val="AAB4BE"/>
                </a:solidFill>
              </a:rPr>
              <a:t>Contact Person</a:t>
            </a:r>
          </a:p>
          <a:p>
            <a:r>
              <a:rPr sz="900">
                <a:solidFill>
                  <a:srgbClr val="AAB4BE"/>
                </a:solidFill>
              </a:rPr>
              <a:t>Phone</a:t>
            </a:r>
          </a:p>
          <a:p>
            <a:r>
              <a:rPr sz="900">
                <a:solidFill>
                  <a:srgbClr val="AAB4BE"/>
                </a:solidFill>
              </a:rPr>
              <a:t>Email</a:t>
            </a:r>
          </a:p>
          <a:p>
            <a:r>
              <a:rPr sz="900">
                <a:solidFill>
                  <a:srgbClr val="AAB4BE"/>
                </a:solidFill>
              </a:rPr>
              <a:t>Industry</a:t>
            </a:r>
          </a:p>
          <a:p>
            <a:r>
              <a:rPr sz="900">
                <a:solidFill>
                  <a:srgbClr val="AAB4BE"/>
                </a:solidFill>
              </a:rPr>
              <a:t>Source</a:t>
            </a:r>
          </a:p>
          <a:p>
            <a:r>
              <a:rPr sz="900">
                <a:solidFill>
                  <a:srgbClr val="AAB4BE"/>
                </a:solidFill>
              </a:rPr>
              <a:t>Service Interest</a:t>
            </a:r>
          </a:p>
          <a:p>
            <a:r>
              <a:rPr sz="900">
                <a:solidFill>
                  <a:srgbClr val="AAB4BE"/>
                </a:solidFill>
              </a:rPr>
              <a:t>Estimated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1325880"/>
            <a:ext cx="2468880" cy="41148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NEW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0" y="1737360"/>
            <a:ext cx="0" cy="137159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886200" y="1947672"/>
            <a:ext cx="2468880" cy="41148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CONTACTED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20640" y="2359152"/>
            <a:ext cx="0" cy="13716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86200" y="2569464"/>
            <a:ext cx="2468880" cy="41148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QUALIFIED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20640" y="2980944"/>
            <a:ext cx="0" cy="13716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86200" y="3191256"/>
            <a:ext cx="2468880" cy="41148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MEETING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20640" y="3602736"/>
            <a:ext cx="0" cy="13716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86200" y="3813048"/>
            <a:ext cx="2468880" cy="41148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PROPOSAL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20640" y="4224528"/>
            <a:ext cx="0" cy="13716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86200" y="4434840"/>
            <a:ext cx="2468880" cy="41148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NEGOTIATION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20640" y="4846320"/>
            <a:ext cx="0" cy="13716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886200" y="5056632"/>
            <a:ext cx="2468880" cy="41148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WON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234440"/>
            <a:ext cx="4114800" cy="46634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Automation</a:t>
            </a:r>
          </a:p>
          <a:p>
            <a:r>
              <a:rPr sz="900">
                <a:solidFill>
                  <a:srgbClr val="AAB4BE"/>
                </a:solidFill>
              </a:rPr>
              <a:t>Assign salesperson</a:t>
            </a:r>
          </a:p>
          <a:p>
            <a:r>
              <a:rPr sz="900">
                <a:solidFill>
                  <a:srgbClr val="AAB4BE"/>
                </a:solidFill>
              </a:rPr>
              <a:t>Follow-up reminders</a:t>
            </a:r>
          </a:p>
          <a:p>
            <a:r>
              <a:rPr sz="900">
                <a:solidFill>
                  <a:srgbClr val="AAB4BE"/>
                </a:solidFill>
              </a:rPr>
              <a:t>Activity timeline</a:t>
            </a:r>
          </a:p>
          <a:p>
            <a:r>
              <a:rPr sz="900">
                <a:solidFill>
                  <a:srgbClr val="AAB4BE"/>
                </a:solidFill>
              </a:rPr>
              <a:t>Proposal history</a:t>
            </a:r>
          </a:p>
          <a:p>
            <a:r>
              <a:rPr sz="900">
                <a:solidFill>
                  <a:srgbClr val="AAB4BE"/>
                </a:solidFill>
              </a:rPr>
              <a:t>Next contact date</a:t>
            </a:r>
          </a:p>
          <a:p>
            <a:r>
              <a:rPr sz="900">
                <a:solidFill>
                  <a:srgbClr val="AAB4BE"/>
                </a:solidFill>
              </a:rPr>
              <a:t>Convert WON → Client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E"/>
                </a:solidFill>
              </a:rPr>
              <a:t>EON8 CRM – Product Blueprint  | 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Client 360°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AB4BE"/>
                </a:solidFill>
              </a:rPr>
              <a:t>One complete customer profile for every department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2834640" cy="475488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Client Profile</a:t>
            </a:r>
          </a:p>
          <a:p>
            <a:r>
              <a:rPr sz="900">
                <a:solidFill>
                  <a:srgbClr val="AAB4BE"/>
                </a:solidFill>
              </a:rPr>
              <a:t>Company details</a:t>
            </a:r>
          </a:p>
          <a:p>
            <a:r>
              <a:rPr sz="900">
                <a:solidFill>
                  <a:srgbClr val="AAB4BE"/>
                </a:solidFill>
              </a:rPr>
              <a:t>Billing details</a:t>
            </a:r>
          </a:p>
          <a:p>
            <a:r>
              <a:rPr sz="900">
                <a:solidFill>
                  <a:srgbClr val="AAB4BE"/>
                </a:solidFill>
              </a:rPr>
              <a:t>GST information</a:t>
            </a:r>
          </a:p>
          <a:p>
            <a:r>
              <a:rPr sz="900">
                <a:solidFill>
                  <a:srgbClr val="AAB4BE"/>
                </a:solidFill>
              </a:rPr>
              <a:t>Contacts</a:t>
            </a:r>
          </a:p>
          <a:p>
            <a:r>
              <a:rPr sz="900">
                <a:solidFill>
                  <a:srgbClr val="AAB4BE"/>
                </a:solidFill>
              </a:rPr>
              <a:t>Payment terms</a:t>
            </a:r>
          </a:p>
          <a:p>
            <a:r>
              <a:rPr sz="900">
                <a:solidFill>
                  <a:srgbClr val="AAB4BE"/>
                </a:solidFill>
              </a:rPr>
              <a:t>Communication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234440"/>
            <a:ext cx="3383280" cy="7772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Projects</a:t>
            </a:r>
          </a:p>
          <a:p>
            <a:r>
              <a:rPr sz="900">
                <a:solidFill>
                  <a:srgbClr val="AAB4BE"/>
                </a:solidFill>
              </a:rPr>
              <a:t>Connected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34440"/>
            <a:ext cx="3383280" cy="7772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Services</a:t>
            </a:r>
          </a:p>
          <a:p>
            <a:r>
              <a:rPr sz="900">
                <a:solidFill>
                  <a:srgbClr val="AAB4BE"/>
                </a:solidFill>
              </a:rPr>
              <a:t>Connected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331720"/>
            <a:ext cx="3383280" cy="7772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Invoices</a:t>
            </a:r>
          </a:p>
          <a:p>
            <a:r>
              <a:rPr sz="900">
                <a:solidFill>
                  <a:srgbClr val="AAB4BE"/>
                </a:solidFill>
              </a:rPr>
              <a:t>Connected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331720"/>
            <a:ext cx="3383280" cy="7772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Payments</a:t>
            </a:r>
          </a:p>
          <a:p>
            <a:r>
              <a:rPr sz="900">
                <a:solidFill>
                  <a:srgbClr val="AAB4BE"/>
                </a:solidFill>
              </a:rPr>
              <a:t>Connected module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429000"/>
            <a:ext cx="3383280" cy="7772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Documents</a:t>
            </a:r>
          </a:p>
          <a:p>
            <a:r>
              <a:rPr sz="900">
                <a:solidFill>
                  <a:srgbClr val="AAB4BE"/>
                </a:solidFill>
              </a:rPr>
              <a:t>Connected module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429000"/>
            <a:ext cx="3383280" cy="7772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Tickets</a:t>
            </a:r>
          </a:p>
          <a:p>
            <a:r>
              <a:rPr sz="900">
                <a:solidFill>
                  <a:srgbClr val="AAB4BE"/>
                </a:solidFill>
              </a:rPr>
              <a:t>Connected module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4526279"/>
            <a:ext cx="3383280" cy="7772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Notes</a:t>
            </a:r>
          </a:p>
          <a:p>
            <a:r>
              <a:rPr sz="900">
                <a:solidFill>
                  <a:srgbClr val="AAB4BE"/>
                </a:solidFill>
              </a:rPr>
              <a:t>Connected module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4526279"/>
            <a:ext cx="3383280" cy="7772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Activity</a:t>
            </a:r>
          </a:p>
          <a:p>
            <a:r>
              <a:rPr sz="900">
                <a:solidFill>
                  <a:srgbClr val="AAB4BE"/>
                </a:solidFill>
              </a:rPr>
              <a:t>Connected 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5532120"/>
            <a:ext cx="7315200" cy="5029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Golden Rule</a:t>
            </a:r>
          </a:p>
          <a:p>
            <a:r>
              <a:rPr sz="900">
                <a:solidFill>
                  <a:srgbClr val="AAB4BE"/>
                </a:solidFill>
              </a:rPr>
              <a:t>Client becomes the single source of truth across Sales, Projects, Finance and Support.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E"/>
                </a:solidFill>
              </a:rPr>
              <a:t>EON8 CRM – Product Blueprint  |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Project &amp; Task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AB4BE"/>
                </a:solidFill>
              </a:rPr>
              <a:t>Convert signed clients into structured service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286000" cy="45720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Project</a:t>
            </a:r>
          </a:p>
          <a:p>
            <a:r>
              <a:rPr sz="900">
                <a:solidFill>
                  <a:srgbClr val="AAB4BE"/>
                </a:solidFill>
              </a:rPr>
              <a:t>Name</a:t>
            </a:r>
          </a:p>
          <a:p>
            <a:r>
              <a:rPr sz="900">
                <a:solidFill>
                  <a:srgbClr val="AAB4BE"/>
                </a:solidFill>
              </a:rPr>
              <a:t>Client</a:t>
            </a:r>
          </a:p>
          <a:p>
            <a:r>
              <a:rPr sz="900">
                <a:solidFill>
                  <a:srgbClr val="AAB4BE"/>
                </a:solidFill>
              </a:rPr>
              <a:t>Service</a:t>
            </a:r>
          </a:p>
          <a:p>
            <a:r>
              <a:rPr sz="900">
                <a:solidFill>
                  <a:srgbClr val="AAB4BE"/>
                </a:solidFill>
              </a:rPr>
              <a:t>Manager</a:t>
            </a:r>
          </a:p>
          <a:p>
            <a:r>
              <a:rPr sz="900">
                <a:solidFill>
                  <a:srgbClr val="AAB4BE"/>
                </a:solidFill>
              </a:rPr>
              <a:t>Budget</a:t>
            </a:r>
          </a:p>
          <a:p>
            <a:r>
              <a:rPr sz="900">
                <a:solidFill>
                  <a:srgbClr val="AAB4BE"/>
                </a:solidFill>
              </a:rPr>
              <a:t>Dates</a:t>
            </a:r>
          </a:p>
          <a:p>
            <a:r>
              <a:rPr sz="900">
                <a:solidFill>
                  <a:srgbClr val="AAB4BE"/>
                </a:solidFill>
              </a:rPr>
              <a:t>Status</a:t>
            </a:r>
          </a:p>
          <a:p>
            <a:r>
              <a:rPr sz="900">
                <a:solidFill>
                  <a:srgbClr val="AAB4BE"/>
                </a:solidFill>
              </a:rPr>
              <a:t>Members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645920"/>
            <a:ext cx="1097280" cy="7315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Planning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43400" y="2011680"/>
            <a:ext cx="22860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0" y="1645920"/>
            <a:ext cx="1097280" cy="7315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Active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0" y="2011680"/>
            <a:ext cx="22860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897879" y="1645920"/>
            <a:ext cx="1097280" cy="7315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On Hold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95160" y="2011680"/>
            <a:ext cx="22860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223759" y="1645920"/>
            <a:ext cx="1097280" cy="7315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21040" y="2011680"/>
            <a:ext cx="22860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49640" y="1645920"/>
            <a:ext cx="1097280" cy="7315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Completed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46920" y="2011680"/>
            <a:ext cx="22860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875520" y="1645920"/>
            <a:ext cx="1097280" cy="7315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Archived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063240"/>
            <a:ext cx="3749039" cy="22860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Task Capabilities</a:t>
            </a:r>
          </a:p>
          <a:p>
            <a:r>
              <a:rPr sz="900">
                <a:solidFill>
                  <a:srgbClr val="AAB4BE"/>
                </a:solidFill>
              </a:rPr>
              <a:t>• Assign employee</a:t>
            </a:r>
          </a:p>
          <a:p>
            <a:r>
              <a:rPr sz="900">
                <a:solidFill>
                  <a:srgbClr val="AAB4BE"/>
                </a:solidFill>
              </a:rPr>
              <a:t>• Priority</a:t>
            </a:r>
          </a:p>
          <a:p>
            <a:r>
              <a:rPr sz="900">
                <a:solidFill>
                  <a:srgbClr val="AAB4BE"/>
                </a:solidFill>
              </a:rPr>
              <a:t>• Due date</a:t>
            </a:r>
          </a:p>
          <a:p>
            <a:r>
              <a:rPr sz="900">
                <a:solidFill>
                  <a:srgbClr val="AAB4BE"/>
                </a:solidFill>
              </a:rPr>
              <a:t>• Comments</a:t>
            </a:r>
          </a:p>
          <a:p>
            <a:r>
              <a:rPr sz="900">
                <a:solidFill>
                  <a:srgbClr val="AAB4BE"/>
                </a:solidFill>
              </a:rPr>
              <a:t>• Attachments</a:t>
            </a:r>
          </a:p>
          <a:p>
            <a:r>
              <a:rPr sz="900">
                <a:solidFill>
                  <a:srgbClr val="AAB4BE"/>
                </a:solidFill>
              </a:rPr>
              <a:t>• Review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063240"/>
            <a:ext cx="4114800" cy="22860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Deliverables</a:t>
            </a:r>
          </a:p>
          <a:p>
            <a:r>
              <a:rPr sz="900">
                <a:solidFill>
                  <a:srgbClr val="AAB4BE"/>
                </a:solidFill>
              </a:rPr>
              <a:t>• Milestones</a:t>
            </a:r>
          </a:p>
          <a:p>
            <a:r>
              <a:rPr sz="900">
                <a:solidFill>
                  <a:srgbClr val="AAB4BE"/>
                </a:solidFill>
              </a:rPr>
              <a:t>• Files</a:t>
            </a:r>
          </a:p>
          <a:p>
            <a:r>
              <a:rPr sz="900">
                <a:solidFill>
                  <a:srgbClr val="AAB4BE"/>
                </a:solidFill>
              </a:rPr>
              <a:t>• Approvals</a:t>
            </a:r>
          </a:p>
          <a:p>
            <a:r>
              <a:rPr sz="900">
                <a:solidFill>
                  <a:srgbClr val="AAB4BE"/>
                </a:solidFill>
              </a:rPr>
              <a:t>• Progress %</a:t>
            </a:r>
          </a:p>
          <a:p>
            <a:r>
              <a:rPr sz="900">
                <a:solidFill>
                  <a:srgbClr val="AAB4BE"/>
                </a:solidFill>
              </a:rPr>
              <a:t>• Client visibility</a:t>
            </a:r>
          </a:p>
          <a:p>
            <a:r>
              <a:rPr sz="900">
                <a:solidFill>
                  <a:srgbClr val="AAB4BE"/>
                </a:solidFill>
              </a:rPr>
              <a:t>• Completion 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E"/>
                </a:solidFill>
              </a:rPr>
              <a:t>EON8 CRM – Product Blueprint  | 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Time Tracking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AB4BE"/>
                </a:solidFill>
              </a:rPr>
              <a:t>Connect employee effort directly to project costing and productivity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828800"/>
            <a:ext cx="1188720" cy="9144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Employee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08760" y="228600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737360" y="1828800"/>
            <a:ext cx="1188720" cy="9144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Project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228600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154680" y="1828800"/>
            <a:ext cx="1188720" cy="9144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Task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43400" y="228600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0" y="1828800"/>
            <a:ext cx="1188720" cy="9144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Start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60720" y="228600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89320" y="1828800"/>
            <a:ext cx="1188720" cy="9144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Work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78040" y="228600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06640" y="1828800"/>
            <a:ext cx="1188720" cy="9144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Stop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95360" y="228600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23960" y="1828800"/>
            <a:ext cx="1188720" cy="9144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AF5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Entry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12680" y="228600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241280" y="1828800"/>
            <a:ext cx="1188720" cy="9144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3474720" cy="173736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Time Entry</a:t>
            </a:r>
          </a:p>
          <a:p>
            <a:r>
              <a:rPr sz="900">
                <a:solidFill>
                  <a:srgbClr val="AAB4BE"/>
                </a:solidFill>
              </a:rPr>
              <a:t>• Date</a:t>
            </a:r>
          </a:p>
          <a:p>
            <a:r>
              <a:rPr sz="900">
                <a:solidFill>
                  <a:srgbClr val="AAB4BE"/>
                </a:solidFill>
              </a:rPr>
              <a:t>• Duration</a:t>
            </a:r>
          </a:p>
          <a:p>
            <a:r>
              <a:rPr sz="900">
                <a:solidFill>
                  <a:srgbClr val="AAB4BE"/>
                </a:solidFill>
              </a:rPr>
              <a:t>• Description</a:t>
            </a:r>
          </a:p>
          <a:p>
            <a:r>
              <a:rPr sz="900">
                <a:solidFill>
                  <a:srgbClr val="AAB4BE"/>
                </a:solidFill>
              </a:rPr>
              <a:t>• Billable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703320"/>
            <a:ext cx="3474720" cy="173736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Manager Review</a:t>
            </a:r>
          </a:p>
          <a:p>
            <a:r>
              <a:rPr sz="900">
                <a:solidFill>
                  <a:srgbClr val="AAB4BE"/>
                </a:solidFill>
              </a:rPr>
              <a:t>• Approve</a:t>
            </a:r>
          </a:p>
          <a:p>
            <a:r>
              <a:rPr sz="900">
                <a:solidFill>
                  <a:srgbClr val="AAB4BE"/>
                </a:solidFill>
              </a:rPr>
              <a:t>• Edit</a:t>
            </a:r>
          </a:p>
          <a:p>
            <a:r>
              <a:rPr sz="900">
                <a:solidFill>
                  <a:srgbClr val="AAB4BE"/>
                </a:solidFill>
              </a:rPr>
              <a:t>• Weekly summary</a:t>
            </a:r>
          </a:p>
          <a:p>
            <a:r>
              <a:rPr sz="900">
                <a:solidFill>
                  <a:srgbClr val="AAB4BE"/>
                </a:solidFill>
              </a:rPr>
              <a:t>• Billable hours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3703320"/>
            <a:ext cx="3474720" cy="173736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Business Impact</a:t>
            </a:r>
          </a:p>
          <a:p>
            <a:r>
              <a:rPr sz="900">
                <a:solidFill>
                  <a:srgbClr val="AAB4BE"/>
                </a:solidFill>
              </a:rPr>
              <a:t>• Productivity</a:t>
            </a:r>
          </a:p>
          <a:p>
            <a:r>
              <a:rPr sz="900">
                <a:solidFill>
                  <a:srgbClr val="AAB4BE"/>
                </a:solidFill>
              </a:rPr>
              <a:t>• Project costing</a:t>
            </a:r>
          </a:p>
          <a:p>
            <a:r>
              <a:rPr sz="900">
                <a:solidFill>
                  <a:srgbClr val="AAB4BE"/>
                </a:solidFill>
              </a:rPr>
              <a:t>• Client billing</a:t>
            </a:r>
          </a:p>
          <a:p>
            <a:r>
              <a:rPr sz="900">
                <a:solidFill>
                  <a:srgbClr val="AAB4BE"/>
                </a:solidFill>
              </a:rPr>
              <a:t>• Profitability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E"/>
                </a:solidFill>
              </a:rPr>
              <a:t>EON8 CRM – Product Blueprint  |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Invoice Management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AB4BE"/>
                </a:solidFill>
              </a:rPr>
              <a:t>From draft creation to payment 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1691640" cy="105156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Create</a:t>
            </a:r>
          </a:p>
          <a:p>
            <a:r>
              <a:rPr sz="900">
                <a:solidFill>
                  <a:srgbClr val="AAB4BE"/>
                </a:solidFill>
              </a:rPr>
              <a:t>Lifecycle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2304288"/>
            <a:ext cx="182879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04872" y="1783080"/>
            <a:ext cx="1691640" cy="105156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AF5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Draft</a:t>
            </a:r>
          </a:p>
          <a:p>
            <a:r>
              <a:rPr sz="900">
                <a:solidFill>
                  <a:srgbClr val="AAB4BE"/>
                </a:solidFill>
              </a:rPr>
              <a:t>Lifecycle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96512" y="2304288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06824" y="1783080"/>
            <a:ext cx="1691640" cy="105156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Sent</a:t>
            </a:r>
          </a:p>
          <a:p>
            <a:r>
              <a:rPr sz="900">
                <a:solidFill>
                  <a:srgbClr val="AAB4BE"/>
                </a:solidFill>
              </a:rPr>
              <a:t>Lifecycle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98464" y="2304288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08776" y="1783080"/>
            <a:ext cx="1691640" cy="105156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Partial</a:t>
            </a:r>
          </a:p>
          <a:p>
            <a:r>
              <a:rPr sz="900">
                <a:solidFill>
                  <a:srgbClr val="AAB4BE"/>
                </a:solidFill>
              </a:rPr>
              <a:t>Lifecycle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00416" y="2304288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10728" y="1783080"/>
            <a:ext cx="1691640" cy="105156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Paid</a:t>
            </a:r>
          </a:p>
          <a:p>
            <a:r>
              <a:rPr sz="900">
                <a:solidFill>
                  <a:srgbClr val="AAB4BE"/>
                </a:solidFill>
              </a:rPr>
              <a:t>Lifecycle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02368" y="2304288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12680" y="1783080"/>
            <a:ext cx="1691640" cy="105156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Overdue</a:t>
            </a:r>
          </a:p>
          <a:p>
            <a:r>
              <a:rPr sz="900">
                <a:solidFill>
                  <a:srgbClr val="AAB4BE"/>
                </a:solidFill>
              </a:rPr>
              <a:t>Lifecycle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57600"/>
            <a:ext cx="3474720" cy="18288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Invoice Actions</a:t>
            </a:r>
          </a:p>
          <a:p>
            <a:r>
              <a:rPr sz="900">
                <a:solidFill>
                  <a:srgbClr val="AAB4BE"/>
                </a:solidFill>
              </a:rPr>
              <a:t>• Create</a:t>
            </a:r>
          </a:p>
          <a:p>
            <a:r>
              <a:rPr sz="900">
                <a:solidFill>
                  <a:srgbClr val="AAB4BE"/>
                </a:solidFill>
              </a:rPr>
              <a:t>• Edit</a:t>
            </a:r>
          </a:p>
          <a:p>
            <a:r>
              <a:rPr sz="900">
                <a:solidFill>
                  <a:srgbClr val="AAB4BE"/>
                </a:solidFill>
              </a:rPr>
              <a:t>• Send email</a:t>
            </a:r>
          </a:p>
          <a:p>
            <a:r>
              <a:rPr sz="900">
                <a:solidFill>
                  <a:srgbClr val="AAB4BE"/>
                </a:solidFill>
              </a:rPr>
              <a:t>• Download PDF</a:t>
            </a:r>
          </a:p>
          <a:p>
            <a:r>
              <a:rPr sz="900">
                <a:solidFill>
                  <a:srgbClr val="AAB4BE"/>
                </a:solidFill>
              </a:rPr>
              <a:t>• Cancel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657600"/>
            <a:ext cx="3474720" cy="18288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GST &amp; Finance</a:t>
            </a:r>
          </a:p>
          <a:p>
            <a:r>
              <a:rPr sz="900">
                <a:solidFill>
                  <a:srgbClr val="AAB4BE"/>
                </a:solidFill>
              </a:rPr>
              <a:t>• GST fields</a:t>
            </a:r>
          </a:p>
          <a:p>
            <a:r>
              <a:rPr sz="900">
                <a:solidFill>
                  <a:srgbClr val="AAB4BE"/>
                </a:solidFill>
              </a:rPr>
              <a:t>• Tax calculation</a:t>
            </a:r>
          </a:p>
          <a:p>
            <a:r>
              <a:rPr sz="900">
                <a:solidFill>
                  <a:srgbClr val="AAB4BE"/>
                </a:solidFill>
              </a:rPr>
              <a:t>• Payment terms</a:t>
            </a:r>
          </a:p>
          <a:p>
            <a:r>
              <a:rPr sz="900">
                <a:solidFill>
                  <a:srgbClr val="AAB4BE"/>
                </a:solidFill>
              </a:rPr>
              <a:t>• Due dates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3657600"/>
            <a:ext cx="3474720" cy="18288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Collections</a:t>
            </a:r>
          </a:p>
          <a:p>
            <a:r>
              <a:rPr sz="900">
                <a:solidFill>
                  <a:srgbClr val="AAB4BE"/>
                </a:solidFill>
              </a:rPr>
              <a:t>• Payment reminder</a:t>
            </a:r>
          </a:p>
          <a:p>
            <a:r>
              <a:rPr sz="900">
                <a:solidFill>
                  <a:srgbClr val="AAB4BE"/>
                </a:solidFill>
              </a:rPr>
              <a:t>• Overdue alerts</a:t>
            </a:r>
          </a:p>
          <a:p>
            <a:r>
              <a:rPr sz="900">
                <a:solidFill>
                  <a:srgbClr val="AAB4BE"/>
                </a:solidFill>
              </a:rPr>
              <a:t>• Partial payment</a:t>
            </a:r>
          </a:p>
          <a:p>
            <a:r>
              <a:rPr sz="900">
                <a:solidFill>
                  <a:srgbClr val="AAB4BE"/>
                </a:solidFill>
              </a:rPr>
              <a:t>• Outstanding balance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E"/>
                </a:solidFill>
              </a:rPr>
              <a:t>EON8 CRM – Product Blueprint  |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Billing, Payments &amp; Cash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AB4BE"/>
                </a:solidFill>
              </a:rPr>
              <a:t>Finance layer connected with invoices and operational expenses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743200" cy="43891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Income</a:t>
            </a:r>
          </a:p>
          <a:p>
            <a:r>
              <a:rPr sz="900">
                <a:solidFill>
                  <a:srgbClr val="AAB4BE"/>
                </a:solidFill>
              </a:rPr>
              <a:t>Invoice payments</a:t>
            </a:r>
          </a:p>
          <a:p>
            <a:r>
              <a:rPr sz="900">
                <a:solidFill>
                  <a:srgbClr val="AAB4BE"/>
                </a:solidFill>
              </a:rPr>
              <a:t>Advance payments</a:t>
            </a:r>
          </a:p>
          <a:p>
            <a:r>
              <a:rPr sz="900">
                <a:solidFill>
                  <a:srgbClr val="AAB4BE"/>
                </a:solidFill>
              </a:rPr>
              <a:t>Recurring revenue</a:t>
            </a:r>
          </a:p>
          <a:p>
            <a:r>
              <a:rPr sz="900">
                <a:solidFill>
                  <a:srgbClr val="AAB4BE"/>
                </a:solidFill>
              </a:rPr>
              <a:t>Other income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325880"/>
            <a:ext cx="2743200" cy="43891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Expenses</a:t>
            </a:r>
          </a:p>
          <a:p>
            <a:r>
              <a:rPr sz="900">
                <a:solidFill>
                  <a:srgbClr val="AAB4BE"/>
                </a:solidFill>
              </a:rPr>
              <a:t>Salary</a:t>
            </a:r>
          </a:p>
          <a:p>
            <a:r>
              <a:rPr sz="900">
                <a:solidFill>
                  <a:srgbClr val="AAB4BE"/>
                </a:solidFill>
              </a:rPr>
              <a:t>Marketing</a:t>
            </a:r>
          </a:p>
          <a:p>
            <a:r>
              <a:rPr sz="900">
                <a:solidFill>
                  <a:srgbClr val="AAB4BE"/>
                </a:solidFill>
              </a:rPr>
              <a:t>Software</a:t>
            </a:r>
          </a:p>
          <a:p>
            <a:r>
              <a:rPr sz="900">
                <a:solidFill>
                  <a:srgbClr val="AAB4BE"/>
                </a:solidFill>
              </a:rPr>
              <a:t>Office rent</a:t>
            </a:r>
          </a:p>
          <a:p>
            <a:r>
              <a:rPr sz="900">
                <a:solidFill>
                  <a:srgbClr val="AAB4BE"/>
                </a:solidFill>
              </a:rPr>
              <a:t>Operational expenses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325880"/>
            <a:ext cx="2743200" cy="43891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Cash Flow</a:t>
            </a:r>
          </a:p>
          <a:p>
            <a:r>
              <a:rPr sz="900">
                <a:solidFill>
                  <a:srgbClr val="AAB4BE"/>
                </a:solidFill>
              </a:rPr>
              <a:t>Bank transfer</a:t>
            </a:r>
          </a:p>
          <a:p>
            <a:r>
              <a:rPr sz="900">
                <a:solidFill>
                  <a:srgbClr val="AAB4BE"/>
                </a:solidFill>
              </a:rPr>
              <a:t>UPI</a:t>
            </a:r>
          </a:p>
          <a:p>
            <a:r>
              <a:rPr sz="900">
                <a:solidFill>
                  <a:srgbClr val="AAB4BE"/>
                </a:solidFill>
              </a:rPr>
              <a:t>Cash</a:t>
            </a:r>
          </a:p>
          <a:p>
            <a:r>
              <a:rPr sz="900">
                <a:solidFill>
                  <a:srgbClr val="AAB4BE"/>
                </a:solidFill>
              </a:rPr>
              <a:t>Payment gateway</a:t>
            </a:r>
          </a:p>
          <a:p>
            <a:r>
              <a:rPr sz="900">
                <a:solidFill>
                  <a:srgbClr val="AAB4BE"/>
                </a:solidFill>
              </a:rPr>
              <a:t>Settlement records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83280" y="3520440"/>
            <a:ext cx="1325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52360" y="3520440"/>
            <a:ext cx="1325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66160" y="5303520"/>
            <a:ext cx="5029200" cy="64008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Executive Finance KPI</a:t>
            </a:r>
          </a:p>
          <a:p>
            <a:r>
              <a:rPr sz="900">
                <a:solidFill>
                  <a:srgbClr val="AAB4BE"/>
                </a:solidFill>
              </a:rPr>
              <a:t>Revenue • Expenses • Outstanding • Net Cash Flow • Profit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E"/>
                </a:solidFill>
              </a:rPr>
              <a:t>EON8 CRM – Product Blueprint  |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Support Ticket &amp;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AB4BE"/>
                </a:solidFill>
              </a:rPr>
              <a:t>Structured customer support improves retention and service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600200" cy="82296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Open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48840" y="224028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23160" y="1828800"/>
            <a:ext cx="1600200" cy="82296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AF5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Assigned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23360" y="224028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97679" y="1828800"/>
            <a:ext cx="1600200" cy="82296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In Progress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97879" y="224028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72199" y="1828800"/>
            <a:ext cx="1600200" cy="82296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Waiting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0" y="2240280"/>
            <a:ext cx="182879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46719" y="1828800"/>
            <a:ext cx="1600200" cy="82296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Resolved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46919" y="224028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21239" y="1828800"/>
            <a:ext cx="1600200" cy="82296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Closed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57600"/>
            <a:ext cx="3383280" cy="18288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Ticket Details</a:t>
            </a:r>
          </a:p>
          <a:p>
            <a:r>
              <a:rPr sz="900">
                <a:solidFill>
                  <a:srgbClr val="AAB4BE"/>
                </a:solidFill>
              </a:rPr>
              <a:t>• Subject</a:t>
            </a:r>
          </a:p>
          <a:p>
            <a:r>
              <a:rPr sz="900">
                <a:solidFill>
                  <a:srgbClr val="AAB4BE"/>
                </a:solidFill>
              </a:rPr>
              <a:t>• Priority</a:t>
            </a:r>
          </a:p>
          <a:p>
            <a:r>
              <a:rPr sz="900">
                <a:solidFill>
                  <a:srgbClr val="AAB4BE"/>
                </a:solidFill>
              </a:rPr>
              <a:t>• Project</a:t>
            </a:r>
          </a:p>
          <a:p>
            <a:r>
              <a:rPr sz="900">
                <a:solidFill>
                  <a:srgbClr val="AAB4BE"/>
                </a:solidFill>
              </a:rPr>
              <a:t>• Attachments</a:t>
            </a:r>
          </a:p>
          <a:p>
            <a:r>
              <a:rPr sz="900">
                <a:solidFill>
                  <a:srgbClr val="AAB4BE"/>
                </a:solidFill>
              </a:rPr>
              <a:t>• Client messages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657600"/>
            <a:ext cx="3383280" cy="18288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Communication</a:t>
            </a:r>
          </a:p>
          <a:p>
            <a:r>
              <a:rPr sz="900">
                <a:solidFill>
                  <a:srgbClr val="AAB4BE"/>
                </a:solidFill>
              </a:rPr>
              <a:t>• Email log</a:t>
            </a:r>
          </a:p>
          <a:p>
            <a:r>
              <a:rPr sz="900">
                <a:solidFill>
                  <a:srgbClr val="AAB4BE"/>
                </a:solidFill>
              </a:rPr>
              <a:t>• WhatsApp</a:t>
            </a:r>
          </a:p>
          <a:p>
            <a:r>
              <a:rPr sz="900">
                <a:solidFill>
                  <a:srgbClr val="AAB4BE"/>
                </a:solidFill>
              </a:rPr>
              <a:t>• Internal notes</a:t>
            </a:r>
          </a:p>
          <a:p>
            <a:r>
              <a:rPr sz="900">
                <a:solidFill>
                  <a:srgbClr val="AAB4BE"/>
                </a:solidFill>
              </a:rPr>
              <a:t>• Activity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657600"/>
            <a:ext cx="3383280" cy="18288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SLA Reports</a:t>
            </a:r>
          </a:p>
          <a:p>
            <a:r>
              <a:rPr sz="900">
                <a:solidFill>
                  <a:srgbClr val="AAB4BE"/>
                </a:solidFill>
              </a:rPr>
              <a:t>• Response time</a:t>
            </a:r>
          </a:p>
          <a:p>
            <a:r>
              <a:rPr sz="900">
                <a:solidFill>
                  <a:srgbClr val="AAB4BE"/>
                </a:solidFill>
              </a:rPr>
              <a:t>• Resolution time</a:t>
            </a:r>
          </a:p>
          <a:p>
            <a:r>
              <a:rPr sz="900">
                <a:solidFill>
                  <a:srgbClr val="AAB4BE"/>
                </a:solidFill>
              </a:rPr>
              <a:t>• Open tickets</a:t>
            </a:r>
          </a:p>
          <a:p>
            <a:r>
              <a:rPr sz="900">
                <a:solidFill>
                  <a:srgbClr val="AAB4BE"/>
                </a:solidFill>
              </a:rPr>
              <a:t>• Performance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E"/>
                </a:solidFill>
              </a:rPr>
              <a:t>EON8 CRM – Product Blueprint  |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Dashboard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AB4BE"/>
                </a:solidFill>
              </a:rPr>
              <a:t>Leadership should understand business health in seconds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2651760" cy="10058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Active Clients</a:t>
            </a:r>
          </a:p>
          <a:p>
            <a:r>
              <a:rPr sz="900">
                <a:solidFill>
                  <a:srgbClr val="AAB4BE"/>
                </a:solidFill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188720"/>
            <a:ext cx="2651760" cy="10058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Open Projects</a:t>
            </a:r>
          </a:p>
          <a:p>
            <a:r>
              <a:rPr sz="900">
                <a:solidFill>
                  <a:srgbClr val="AAB4BE"/>
                </a:solidFill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88720"/>
            <a:ext cx="2651760" cy="10058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Outstanding</a:t>
            </a:r>
          </a:p>
          <a:p>
            <a:r>
              <a:rPr sz="900">
                <a:solidFill>
                  <a:srgbClr val="AAB4BE"/>
                </a:solidFill>
              </a:rPr>
              <a:t>₹4.25L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188720"/>
            <a:ext cx="2651760" cy="10058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Monthly Revenue</a:t>
            </a:r>
          </a:p>
          <a:p>
            <a:r>
              <a:rPr sz="900">
                <a:solidFill>
                  <a:srgbClr val="AAB4BE"/>
                </a:solidFill>
              </a:rPr>
              <a:t>₹12.5L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5394960" cy="25603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AF5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Sales Analytics</a:t>
            </a:r>
          </a:p>
          <a:p>
            <a:r>
              <a:rPr sz="900">
                <a:solidFill>
                  <a:srgbClr val="AAB4BE"/>
                </a:solidFill>
              </a:rPr>
              <a:t>Lead sources</a:t>
            </a:r>
          </a:p>
          <a:p>
            <a:r>
              <a:rPr sz="900">
                <a:solidFill>
                  <a:srgbClr val="AAB4BE"/>
                </a:solidFill>
              </a:rPr>
              <a:t>Conversion rate</a:t>
            </a:r>
          </a:p>
          <a:p>
            <a:r>
              <a:rPr sz="900">
                <a:solidFill>
                  <a:srgbClr val="AAB4BE"/>
                </a:solidFill>
              </a:rPr>
              <a:t>Pipeline</a:t>
            </a:r>
          </a:p>
          <a:p>
            <a:r>
              <a:rPr sz="900">
                <a:solidFill>
                  <a:srgbClr val="AAB4BE"/>
                </a:solidFill>
              </a:rPr>
              <a:t>Expected revenue</a:t>
            </a:r>
          </a:p>
          <a:p>
            <a:r>
              <a:rPr sz="900">
                <a:solidFill>
                  <a:srgbClr val="AAB4BE"/>
                </a:solidFill>
              </a:rPr>
              <a:t>Salesperson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743200"/>
            <a:ext cx="5394960" cy="25603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Operational Analytics</a:t>
            </a:r>
          </a:p>
          <a:p>
            <a:r>
              <a:rPr sz="900">
                <a:solidFill>
                  <a:srgbClr val="AAB4BE"/>
                </a:solidFill>
              </a:rPr>
              <a:t>Project progress</a:t>
            </a:r>
          </a:p>
          <a:p>
            <a:r>
              <a:rPr sz="900">
                <a:solidFill>
                  <a:srgbClr val="AAB4BE"/>
                </a:solidFill>
              </a:rPr>
              <a:t>Employee productivity</a:t>
            </a:r>
          </a:p>
          <a:p>
            <a:r>
              <a:rPr sz="900">
                <a:solidFill>
                  <a:srgbClr val="AAB4BE"/>
                </a:solidFill>
              </a:rPr>
              <a:t>Billable hours</a:t>
            </a:r>
          </a:p>
          <a:p>
            <a:r>
              <a:rPr sz="900">
                <a:solidFill>
                  <a:srgbClr val="AAB4BE"/>
                </a:solidFill>
              </a:rPr>
              <a:t>Outstanding invoices</a:t>
            </a:r>
          </a:p>
          <a:p>
            <a:r>
              <a:rPr sz="900">
                <a:solidFill>
                  <a:srgbClr val="AAB4BE"/>
                </a:solidFill>
              </a:rPr>
              <a:t>Cash flow &amp; profitability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E"/>
                </a:solidFill>
              </a:rPr>
              <a:t>EON8 CRM – Product Blueprint  |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Role-Based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AB4BE"/>
                </a:solidFill>
              </a:rPr>
              <a:t>Secure permissions for every department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566160" cy="19202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Super Admin</a:t>
            </a:r>
          </a:p>
          <a:p>
            <a:r>
              <a:rPr sz="900">
                <a:solidFill>
                  <a:srgbClr val="AAB4BE"/>
                </a:solidFill>
              </a:rPr>
              <a:t>• Everything</a:t>
            </a:r>
          </a:p>
          <a:p>
            <a:r>
              <a:rPr sz="900">
                <a:solidFill>
                  <a:srgbClr val="AAB4BE"/>
                </a:solidFill>
              </a:rPr>
              <a:t>• Settings</a:t>
            </a:r>
          </a:p>
          <a:p>
            <a:r>
              <a:rPr sz="900">
                <a:solidFill>
                  <a:srgbClr val="AAB4BE"/>
                </a:solidFill>
              </a:rPr>
              <a:t>• Audit logs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234440"/>
            <a:ext cx="3566160" cy="19202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Admin</a:t>
            </a:r>
          </a:p>
          <a:p>
            <a:r>
              <a:rPr sz="900">
                <a:solidFill>
                  <a:srgbClr val="AAB4BE"/>
                </a:solidFill>
              </a:rPr>
              <a:t>• Operations</a:t>
            </a:r>
          </a:p>
          <a:p>
            <a:r>
              <a:rPr sz="900">
                <a:solidFill>
                  <a:srgbClr val="AAB4BE"/>
                </a:solidFill>
              </a:rPr>
              <a:t>• Finance</a:t>
            </a:r>
          </a:p>
          <a:p>
            <a:r>
              <a:rPr sz="900">
                <a:solidFill>
                  <a:srgbClr val="AAB4BE"/>
                </a:solidFill>
              </a:rPr>
              <a:t>•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234440"/>
            <a:ext cx="3566160" cy="19202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Sales</a:t>
            </a:r>
          </a:p>
          <a:p>
            <a:r>
              <a:rPr sz="900">
                <a:solidFill>
                  <a:srgbClr val="AAB4BE"/>
                </a:solidFill>
              </a:rPr>
              <a:t>• Leads</a:t>
            </a:r>
          </a:p>
          <a:p>
            <a:r>
              <a:rPr sz="900">
                <a:solidFill>
                  <a:srgbClr val="AAB4BE"/>
                </a:solidFill>
              </a:rPr>
              <a:t>• Clients</a:t>
            </a:r>
          </a:p>
          <a:p>
            <a:r>
              <a:rPr sz="900">
                <a:solidFill>
                  <a:srgbClr val="AAB4BE"/>
                </a:solidFill>
              </a:rPr>
              <a:t>• Follow-ups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57600"/>
            <a:ext cx="3566160" cy="19202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Project Manager</a:t>
            </a:r>
          </a:p>
          <a:p>
            <a:r>
              <a:rPr sz="900">
                <a:solidFill>
                  <a:srgbClr val="AAB4BE"/>
                </a:solidFill>
              </a:rPr>
              <a:t>• Projects</a:t>
            </a:r>
          </a:p>
          <a:p>
            <a:r>
              <a:rPr sz="900">
                <a:solidFill>
                  <a:srgbClr val="AAB4BE"/>
                </a:solidFill>
              </a:rPr>
              <a:t>• Tasks</a:t>
            </a:r>
          </a:p>
          <a:p>
            <a:r>
              <a:rPr sz="900">
                <a:solidFill>
                  <a:srgbClr val="AAB4BE"/>
                </a:solidFill>
              </a:rPr>
              <a:t>• Time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657600"/>
            <a:ext cx="3566160" cy="19202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AF5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Employee</a:t>
            </a:r>
          </a:p>
          <a:p>
            <a:r>
              <a:rPr sz="900">
                <a:solidFill>
                  <a:srgbClr val="AAB4BE"/>
                </a:solidFill>
              </a:rPr>
              <a:t>• Assigned tasks</a:t>
            </a:r>
          </a:p>
          <a:p>
            <a:r>
              <a:rPr sz="900">
                <a:solidFill>
                  <a:srgbClr val="AAB4BE"/>
                </a:solidFill>
              </a:rPr>
              <a:t>• Time tracking</a:t>
            </a:r>
          </a:p>
          <a:p>
            <a:r>
              <a:rPr sz="900">
                <a:solidFill>
                  <a:srgbClr val="AAB4BE"/>
                </a:solidFill>
              </a:rPr>
              <a:t>• Tickets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3657600"/>
            <a:ext cx="3566160" cy="192024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Finance</a:t>
            </a:r>
          </a:p>
          <a:p>
            <a:r>
              <a:rPr sz="900">
                <a:solidFill>
                  <a:srgbClr val="AAB4BE"/>
                </a:solidFill>
              </a:rPr>
              <a:t>• Invoices</a:t>
            </a:r>
          </a:p>
          <a:p>
            <a:r>
              <a:rPr sz="900">
                <a:solidFill>
                  <a:srgbClr val="AAB4BE"/>
                </a:solidFill>
              </a:rPr>
              <a:t>• Payments</a:t>
            </a:r>
          </a:p>
          <a:p>
            <a:r>
              <a:rPr sz="900">
                <a:solidFill>
                  <a:srgbClr val="AAB4BE"/>
                </a:solidFill>
              </a:rPr>
              <a:t>• Expenses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E"/>
                </a:solidFill>
              </a:rPr>
              <a:t>EON8 CRM – Product Blueprint  | 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Database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AB4BE"/>
                </a:solidFill>
              </a:rPr>
              <a:t>Scalable relational database for reporting and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2743200" cy="14173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Users</a:t>
            </a:r>
          </a:p>
          <a:p>
            <a:r>
              <a:rPr sz="900">
                <a:solidFill>
                  <a:srgbClr val="AAB4BE"/>
                </a:solidFill>
              </a:rPr>
              <a:t>• users</a:t>
            </a:r>
          </a:p>
          <a:p>
            <a:r>
              <a:rPr sz="900">
                <a:solidFill>
                  <a:srgbClr val="AAB4BE"/>
                </a:solidFill>
              </a:rPr>
              <a:t>• roles</a:t>
            </a:r>
          </a:p>
          <a:p>
            <a:r>
              <a:rPr sz="900">
                <a:solidFill>
                  <a:srgbClr val="AAB4BE"/>
                </a:solidFill>
              </a:rPr>
              <a:t>• permissions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143000"/>
            <a:ext cx="2743200" cy="14173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AF5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Sales</a:t>
            </a:r>
          </a:p>
          <a:p>
            <a:r>
              <a:rPr sz="900">
                <a:solidFill>
                  <a:srgbClr val="AAB4BE"/>
                </a:solidFill>
              </a:rPr>
              <a:t>• leads</a:t>
            </a:r>
          </a:p>
          <a:p>
            <a:r>
              <a:rPr sz="900">
                <a:solidFill>
                  <a:srgbClr val="AAB4BE"/>
                </a:solidFill>
              </a:rPr>
              <a:t>• activities</a:t>
            </a:r>
          </a:p>
          <a:p>
            <a:r>
              <a:rPr sz="900">
                <a:solidFill>
                  <a:srgbClr val="AAB4BE"/>
                </a:solidFill>
              </a:rPr>
              <a:t>•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43000"/>
            <a:ext cx="2743200" cy="14173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Clients</a:t>
            </a:r>
          </a:p>
          <a:p>
            <a:r>
              <a:rPr sz="900">
                <a:solidFill>
                  <a:srgbClr val="AAB4BE"/>
                </a:solidFill>
              </a:rPr>
              <a:t>• clients</a:t>
            </a:r>
          </a:p>
          <a:p>
            <a:r>
              <a:rPr sz="900">
                <a:solidFill>
                  <a:srgbClr val="AAB4BE"/>
                </a:solidFill>
              </a:rPr>
              <a:t>• contacts</a:t>
            </a:r>
          </a:p>
          <a:p>
            <a:r>
              <a:rPr sz="900">
                <a:solidFill>
                  <a:srgbClr val="AAB4BE"/>
                </a:solidFill>
              </a:rPr>
              <a:t>•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143000"/>
            <a:ext cx="2743200" cy="14173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Projects</a:t>
            </a:r>
          </a:p>
          <a:p>
            <a:r>
              <a:rPr sz="900">
                <a:solidFill>
                  <a:srgbClr val="AAB4BE"/>
                </a:solidFill>
              </a:rPr>
              <a:t>• projects</a:t>
            </a:r>
          </a:p>
          <a:p>
            <a:r>
              <a:rPr sz="900">
                <a:solidFill>
                  <a:srgbClr val="AAB4BE"/>
                </a:solidFill>
              </a:rPr>
              <a:t>• tasks</a:t>
            </a:r>
          </a:p>
          <a:p>
            <a:r>
              <a:rPr sz="900">
                <a:solidFill>
                  <a:srgbClr val="AAB4BE"/>
                </a:solidFill>
              </a:rPr>
              <a:t>• members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1800"/>
            <a:ext cx="2743200" cy="14173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Finance</a:t>
            </a:r>
          </a:p>
          <a:p>
            <a:r>
              <a:rPr sz="900">
                <a:solidFill>
                  <a:srgbClr val="AAB4BE"/>
                </a:solidFill>
              </a:rPr>
              <a:t>• invoices</a:t>
            </a:r>
          </a:p>
          <a:p>
            <a:r>
              <a:rPr sz="900">
                <a:solidFill>
                  <a:srgbClr val="AAB4BE"/>
                </a:solidFill>
              </a:rPr>
              <a:t>• items</a:t>
            </a:r>
          </a:p>
          <a:p>
            <a:r>
              <a:rPr sz="900">
                <a:solidFill>
                  <a:srgbClr val="AAB4BE"/>
                </a:solidFill>
              </a:rPr>
              <a:t>• payments</a:t>
            </a:r>
          </a:p>
          <a:p>
            <a:r>
              <a:rPr sz="900">
                <a:solidFill>
                  <a:srgbClr val="AAB4BE"/>
                </a:solidFill>
              </a:rPr>
              <a:t>• expenses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971800"/>
            <a:ext cx="2743200" cy="14173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Support</a:t>
            </a:r>
          </a:p>
          <a:p>
            <a:r>
              <a:rPr sz="900">
                <a:solidFill>
                  <a:srgbClr val="AAB4BE"/>
                </a:solidFill>
              </a:rPr>
              <a:t>• tickets</a:t>
            </a:r>
          </a:p>
          <a:p>
            <a:r>
              <a:rPr sz="900">
                <a:solidFill>
                  <a:srgbClr val="AAB4BE"/>
                </a:solidFill>
              </a:rPr>
              <a:t>• messages</a:t>
            </a:r>
          </a:p>
          <a:p>
            <a:r>
              <a:rPr sz="900">
                <a:solidFill>
                  <a:srgbClr val="AAB4BE"/>
                </a:solidFill>
              </a:rPr>
              <a:t>• attachments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971800"/>
            <a:ext cx="2743200" cy="14173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HR</a:t>
            </a:r>
          </a:p>
          <a:p>
            <a:r>
              <a:rPr sz="900">
                <a:solidFill>
                  <a:srgbClr val="AAB4BE"/>
                </a:solidFill>
              </a:rPr>
              <a:t>• employees</a:t>
            </a:r>
          </a:p>
          <a:p>
            <a:r>
              <a:rPr sz="900">
                <a:solidFill>
                  <a:srgbClr val="AAB4BE"/>
                </a:solidFill>
              </a:rPr>
              <a:t>• attendance</a:t>
            </a:r>
          </a:p>
          <a:p>
            <a:r>
              <a:rPr sz="900">
                <a:solidFill>
                  <a:srgbClr val="AAB4BE"/>
                </a:solidFill>
              </a:rPr>
              <a:t>• leave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2971800"/>
            <a:ext cx="2743200" cy="14173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System</a:t>
            </a:r>
          </a:p>
          <a:p>
            <a:r>
              <a:rPr sz="900">
                <a:solidFill>
                  <a:srgbClr val="AAB4BE"/>
                </a:solidFill>
              </a:rPr>
              <a:t>• notifications</a:t>
            </a:r>
          </a:p>
          <a:p>
            <a:r>
              <a:rPr sz="900">
                <a:solidFill>
                  <a:srgbClr val="AAB4BE"/>
                </a:solidFill>
              </a:rPr>
              <a:t>• activities</a:t>
            </a:r>
          </a:p>
          <a:p>
            <a:r>
              <a:rPr sz="900">
                <a:solidFill>
                  <a:srgbClr val="AAB4BE"/>
                </a:solidFill>
              </a:rPr>
              <a:t>• audit_logs</a:t>
            </a:r>
          </a:p>
          <a:p>
            <a:r>
              <a:rPr sz="900">
                <a:solidFill>
                  <a:srgbClr val="AAB4BE"/>
                </a:solidFill>
              </a:rPr>
              <a:t>•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257800"/>
            <a:ext cx="10241280" cy="64008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Core Relationship</a:t>
            </a:r>
          </a:p>
          <a:p>
            <a:r>
              <a:rPr sz="900">
                <a:solidFill>
                  <a:srgbClr val="AAB4BE"/>
                </a:solidFill>
              </a:rPr>
              <a:t>Lead → Client → Project → Task → Time Entry → Invoice → Payment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E"/>
                </a:solidFill>
              </a:rPr>
              <a:t>EON8 CRM – Product Blueprint  | 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Development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AB4BE"/>
                </a:solidFill>
              </a:rPr>
              <a:t>Build the CRM in phases instead of one massive release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54480"/>
            <a:ext cx="2148840" cy="36576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Phase 1</a:t>
            </a:r>
          </a:p>
          <a:p>
            <a:r>
              <a:rPr sz="900">
                <a:solidFill>
                  <a:srgbClr val="AAB4BE"/>
                </a:solidFill>
              </a:rPr>
              <a:t>Authentication</a:t>
            </a:r>
          </a:p>
          <a:p>
            <a:r>
              <a:rPr sz="900">
                <a:solidFill>
                  <a:srgbClr val="AAB4BE"/>
                </a:solidFill>
              </a:rPr>
              <a:t>Users &amp; Roles</a:t>
            </a:r>
          </a:p>
          <a:p>
            <a:r>
              <a:rPr sz="900">
                <a:solidFill>
                  <a:srgbClr val="AAB4BE"/>
                </a:solidFill>
              </a:rPr>
              <a:t>Dashboard</a:t>
            </a:r>
          </a:p>
          <a:p>
            <a:r>
              <a:rPr sz="900">
                <a:solidFill>
                  <a:srgbClr val="AAB4BE"/>
                </a:solidFill>
              </a:rPr>
              <a:t>Leads</a:t>
            </a:r>
          </a:p>
          <a:p>
            <a:r>
              <a:rPr sz="900">
                <a:solidFill>
                  <a:srgbClr val="AAB4BE"/>
                </a:solidFill>
              </a:rPr>
              <a:t>Clients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338328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70632" y="1554480"/>
            <a:ext cx="2148840" cy="36576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Phase 2</a:t>
            </a:r>
          </a:p>
          <a:p>
            <a:r>
              <a:rPr sz="900">
                <a:solidFill>
                  <a:srgbClr val="AAB4BE"/>
                </a:solidFill>
              </a:rPr>
              <a:t>Projects</a:t>
            </a:r>
          </a:p>
          <a:p>
            <a:r>
              <a:rPr sz="900">
                <a:solidFill>
                  <a:srgbClr val="AAB4BE"/>
                </a:solidFill>
              </a:rPr>
              <a:t>Tasks</a:t>
            </a:r>
          </a:p>
          <a:p>
            <a:r>
              <a:rPr sz="900">
                <a:solidFill>
                  <a:srgbClr val="AAB4BE"/>
                </a:solidFill>
              </a:rPr>
              <a:t>Services</a:t>
            </a:r>
          </a:p>
          <a:p>
            <a:r>
              <a:rPr sz="900">
                <a:solidFill>
                  <a:srgbClr val="AAB4BE"/>
                </a:solidFill>
              </a:rPr>
              <a:t>Time Tracking</a:t>
            </a:r>
          </a:p>
          <a:p>
            <a:r>
              <a:rPr sz="900">
                <a:solidFill>
                  <a:srgbClr val="AAB4BE"/>
                </a:solidFill>
              </a:rPr>
              <a:t>Documents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19472" y="338328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29784" y="1554480"/>
            <a:ext cx="2148840" cy="36576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Phase 3</a:t>
            </a:r>
          </a:p>
          <a:p>
            <a:r>
              <a:rPr sz="900">
                <a:solidFill>
                  <a:srgbClr val="AAB4BE"/>
                </a:solidFill>
              </a:rPr>
              <a:t>Invoices</a:t>
            </a:r>
          </a:p>
          <a:p>
            <a:r>
              <a:rPr sz="900">
                <a:solidFill>
                  <a:srgbClr val="AAB4BE"/>
                </a:solidFill>
              </a:rPr>
              <a:t>Payments</a:t>
            </a:r>
          </a:p>
          <a:p>
            <a:r>
              <a:rPr sz="900">
                <a:solidFill>
                  <a:srgbClr val="AAB4BE"/>
                </a:solidFill>
              </a:rPr>
              <a:t>Expenses</a:t>
            </a:r>
          </a:p>
          <a:p>
            <a:r>
              <a:rPr sz="900">
                <a:solidFill>
                  <a:srgbClr val="AAB4BE"/>
                </a:solidFill>
              </a:rPr>
              <a:t>Billing</a:t>
            </a:r>
          </a:p>
          <a:p>
            <a:r>
              <a:rPr sz="900">
                <a:solidFill>
                  <a:srgbClr val="AAB4BE"/>
                </a:solidFill>
              </a:rPr>
              <a:t>GST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78624" y="338328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88936" y="1554480"/>
            <a:ext cx="2148840" cy="36576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Phase 4</a:t>
            </a:r>
          </a:p>
          <a:p>
            <a:r>
              <a:rPr sz="900">
                <a:solidFill>
                  <a:srgbClr val="AAB4BE"/>
                </a:solidFill>
              </a:rPr>
              <a:t>Support</a:t>
            </a:r>
          </a:p>
          <a:p>
            <a:r>
              <a:rPr sz="900">
                <a:solidFill>
                  <a:srgbClr val="AAB4BE"/>
                </a:solidFill>
              </a:rPr>
              <a:t>Calendar</a:t>
            </a:r>
          </a:p>
          <a:p>
            <a:r>
              <a:rPr sz="900">
                <a:solidFill>
                  <a:srgbClr val="AAB4BE"/>
                </a:solidFill>
              </a:rPr>
              <a:t>Notifications</a:t>
            </a:r>
          </a:p>
          <a:p>
            <a:r>
              <a:rPr sz="900">
                <a:solidFill>
                  <a:srgbClr val="AAB4BE"/>
                </a:solidFill>
              </a:rPr>
              <a:t>Communication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37776" y="3383280"/>
            <a:ext cx="182880" cy="0"/>
          </a:xfrm>
          <a:prstGeom prst="line">
            <a:avLst/>
          </a:prstGeom>
          <a:ln w="1905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848088" y="1554480"/>
            <a:ext cx="2148840" cy="365760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AF5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Phase 5</a:t>
            </a:r>
          </a:p>
          <a:p>
            <a:r>
              <a:rPr sz="900">
                <a:solidFill>
                  <a:srgbClr val="AAB4BE"/>
                </a:solidFill>
              </a:rPr>
              <a:t>Analytics</a:t>
            </a:r>
          </a:p>
          <a:p>
            <a:r>
              <a:rPr sz="900">
                <a:solidFill>
                  <a:srgbClr val="AAB4BE"/>
                </a:solidFill>
              </a:rPr>
              <a:t>Automation</a:t>
            </a:r>
          </a:p>
          <a:p>
            <a:r>
              <a:rPr sz="900">
                <a:solidFill>
                  <a:srgbClr val="AAB4BE"/>
                </a:solidFill>
              </a:rPr>
              <a:t>Integrations</a:t>
            </a:r>
          </a:p>
          <a:p>
            <a:r>
              <a:rPr sz="900">
                <a:solidFill>
                  <a:srgbClr val="AAB4BE"/>
                </a:solidFill>
              </a:rPr>
              <a:t>Executive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5486400"/>
            <a:ext cx="8869680" cy="5029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Recommended MVP</a:t>
            </a:r>
          </a:p>
          <a:p>
            <a:r>
              <a:rPr sz="900">
                <a:solidFill>
                  <a:srgbClr val="AAB4BE"/>
                </a:solidFill>
              </a:rPr>
              <a:t>Phase 1 + Phase 2 + Basic Invoice = Fully usable internal CRM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E"/>
                </a:solidFill>
              </a:rPr>
              <a:t>EON8 CRM – Product Blueprint  | 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Success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AB4BE"/>
                </a:solidFill>
              </a:rPr>
              <a:t>The CRM becomes the operating system of the company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383280" cy="43891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AF5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Sales Team</a:t>
            </a:r>
          </a:p>
          <a:p>
            <a:r>
              <a:rPr sz="900">
                <a:solidFill>
                  <a:srgbClr val="AAB4BE"/>
                </a:solidFill>
              </a:rPr>
              <a:t>Capture leads</a:t>
            </a:r>
          </a:p>
          <a:p>
            <a:r>
              <a:rPr sz="900">
                <a:solidFill>
                  <a:srgbClr val="AAB4BE"/>
                </a:solidFill>
              </a:rPr>
              <a:t>Never miss follow-ups</a:t>
            </a:r>
          </a:p>
          <a:p>
            <a:r>
              <a:rPr sz="900">
                <a:solidFill>
                  <a:srgbClr val="AAB4BE"/>
                </a:solidFill>
              </a:rPr>
              <a:t>Increase conversion</a:t>
            </a:r>
          </a:p>
          <a:p>
            <a:r>
              <a:rPr sz="900">
                <a:solidFill>
                  <a:srgbClr val="AAB4BE"/>
                </a:solidFill>
              </a:rPr>
              <a:t>Track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383280" cy="43891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2A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Operations Team</a:t>
            </a:r>
          </a:p>
          <a:p>
            <a:r>
              <a:rPr sz="900">
                <a:solidFill>
                  <a:srgbClr val="AAB4BE"/>
                </a:solidFill>
              </a:rPr>
              <a:t>Manage projects</a:t>
            </a:r>
          </a:p>
          <a:p>
            <a:r>
              <a:rPr sz="900">
                <a:solidFill>
                  <a:srgbClr val="AAB4BE"/>
                </a:solidFill>
              </a:rPr>
              <a:t>Assign tasks</a:t>
            </a:r>
          </a:p>
          <a:p>
            <a:r>
              <a:rPr sz="900">
                <a:solidFill>
                  <a:srgbClr val="AAB4BE"/>
                </a:solidFill>
              </a:rPr>
              <a:t>Track productivity</a:t>
            </a:r>
          </a:p>
          <a:p>
            <a:r>
              <a:rPr sz="900">
                <a:solidFill>
                  <a:srgbClr val="AAB4BE"/>
                </a:solidFill>
              </a:rPr>
              <a:t>Deliver on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280160"/>
            <a:ext cx="3383280" cy="4389120"/>
          </a:xfrm>
          <a:prstGeom prst="roundRect">
            <a:avLst/>
          </a:prstGeom>
          <a:solidFill>
            <a:srgbClr val="12161C"/>
          </a:solidFill>
          <a:ln w="1524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/>
            <a:r>
              <a:rPr sz="1300" b="1">
                <a:solidFill>
                  <a:srgbClr val="F5F7FA"/>
                </a:solidFill>
              </a:rPr>
              <a:t>Finance &amp; Leadership</a:t>
            </a:r>
          </a:p>
          <a:p>
            <a:r>
              <a:rPr sz="900">
                <a:solidFill>
                  <a:srgbClr val="AAB4BE"/>
                </a:solidFill>
              </a:rPr>
              <a:t>Revenue visibility</a:t>
            </a:r>
          </a:p>
          <a:p>
            <a:r>
              <a:rPr sz="900">
                <a:solidFill>
                  <a:srgbClr val="AAB4BE"/>
                </a:solidFill>
              </a:rPr>
              <a:t>Outstanding control</a:t>
            </a:r>
          </a:p>
          <a:p>
            <a:r>
              <a:rPr sz="900">
                <a:solidFill>
                  <a:srgbClr val="AAB4BE"/>
                </a:solidFill>
              </a:rPr>
              <a:t>Profit insights</a:t>
            </a:r>
          </a:p>
          <a:p>
            <a:r>
              <a:rPr sz="900">
                <a:solidFill>
                  <a:srgbClr val="AAB4BE"/>
                </a:solidFill>
              </a:rPr>
              <a:t>Better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760720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</a:rPr>
              <a:t>One Platform. One Client Database. One Complete Business Workflow.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47120" cy="18288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E"/>
                </a:solidFill>
              </a:rPr>
              <a:t>EON8 CRM – Product Blueprint  |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1030</Words>
  <Application>Microsoft Office PowerPoint</Application>
  <PresentationFormat>Widescreen</PresentationFormat>
  <Paragraphs>400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2026-08-21T08:35:55Z</dcterms:modified>
  <cp:category/>
</cp:coreProperties>
</file>